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6" r:id="rId10"/>
    <p:sldId id="272" r:id="rId11"/>
    <p:sldId id="268" r:id="rId12"/>
    <p:sldId id="269" r:id="rId13"/>
    <p:sldId id="273" r:id="rId14"/>
    <p:sldId id="271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FA1A09-B5C0-44C3-B632-82DD6F703982}" v="30" dt="2025-12-09T04:21:37.4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725" y="-14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edipranay.529@outlook.com" userId="5004c770070db395" providerId="LiveId" clId="{58A9C1BA-B877-4660-BB8D-81FDE541E347}"/>
    <pc:docChg chg="undo custSel delSld modSld">
      <pc:chgData name="manedipranay.529@outlook.com" userId="5004c770070db395" providerId="LiveId" clId="{58A9C1BA-B877-4660-BB8D-81FDE541E347}" dt="2025-12-09T04:21:37.492" v="122" actId="1440"/>
      <pc:docMkLst>
        <pc:docMk/>
      </pc:docMkLst>
      <pc:sldChg chg="del">
        <pc:chgData name="manedipranay.529@outlook.com" userId="5004c770070db395" providerId="LiveId" clId="{58A9C1BA-B877-4660-BB8D-81FDE541E347}" dt="2025-12-09T04:18:55.812" v="0" actId="47"/>
        <pc:sldMkLst>
          <pc:docMk/>
          <pc:sldMk cId="0" sldId="263"/>
        </pc:sldMkLst>
      </pc:sldChg>
      <pc:sldChg chg="modSp mod">
        <pc:chgData name="manedipranay.529@outlook.com" userId="5004c770070db395" providerId="LiveId" clId="{58A9C1BA-B877-4660-BB8D-81FDE541E347}" dt="2025-12-09T04:20:19.853" v="76" actId="20577"/>
        <pc:sldMkLst>
          <pc:docMk/>
          <pc:sldMk cId="0" sldId="267"/>
        </pc:sldMkLst>
        <pc:spChg chg="mod">
          <ac:chgData name="manedipranay.529@outlook.com" userId="5004c770070db395" providerId="LiveId" clId="{58A9C1BA-B877-4660-BB8D-81FDE541E347}" dt="2025-12-09T04:20:19.853" v="76" actId="20577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manedipranay.529@outlook.com" userId="5004c770070db395" providerId="LiveId" clId="{58A9C1BA-B877-4660-BB8D-81FDE541E347}" dt="2025-12-09T04:21:37.492" v="122" actId="1440"/>
        <pc:sldMkLst>
          <pc:docMk/>
          <pc:sldMk cId="0" sldId="269"/>
        </pc:sldMkLst>
        <pc:spChg chg="mod">
          <ac:chgData name="manedipranay.529@outlook.com" userId="5004c770070db395" providerId="LiveId" clId="{58A9C1BA-B877-4660-BB8D-81FDE541E347}" dt="2025-12-09T04:21:25.396" v="120" actId="20577"/>
          <ac:spMkLst>
            <pc:docMk/>
            <pc:sldMk cId="0" sldId="269"/>
            <ac:spMk id="3" creationId="{00000000-0000-0000-0000-000000000000}"/>
          </ac:spMkLst>
        </pc:spChg>
        <pc:picChg chg="mod">
          <ac:chgData name="manedipranay.529@outlook.com" userId="5004c770070db395" providerId="LiveId" clId="{58A9C1BA-B877-4660-BB8D-81FDE541E347}" dt="2025-12-09T04:21:37.492" v="122" actId="1440"/>
          <ac:picMkLst>
            <pc:docMk/>
            <pc:sldMk cId="0" sldId="269"/>
            <ac:picMk id="7170" creationId="{E8E54794-C200-124A-DF27-DC948621D514}"/>
          </ac:picMkLst>
        </pc:picChg>
      </pc:sldChg>
      <pc:sldChg chg="modSp mod">
        <pc:chgData name="manedipranay.529@outlook.com" userId="5004c770070db395" providerId="LiveId" clId="{58A9C1BA-B877-4660-BB8D-81FDE541E347}" dt="2025-12-09T04:19:31.783" v="1" actId="20577"/>
        <pc:sldMkLst>
          <pc:docMk/>
          <pc:sldMk cId="1978742896" sldId="272"/>
        </pc:sldMkLst>
        <pc:spChg chg="mod">
          <ac:chgData name="manedipranay.529@outlook.com" userId="5004c770070db395" providerId="LiveId" clId="{58A9C1BA-B877-4660-BB8D-81FDE541E347}" dt="2025-12-09T04:19:31.783" v="1" actId="20577"/>
          <ac:spMkLst>
            <pc:docMk/>
            <pc:sldMk cId="1978742896" sldId="272"/>
            <ac:spMk id="6" creationId="{711E4FC1-513A-0E8A-9761-4C77622D05C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9F8E73-F6A6-4945-98D0-6693C681071F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A97B-5750-4AD6-9CE8-9174E10883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866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6A97B-5750-4AD6-9CE8-9174E1088390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4123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435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436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79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103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074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595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534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563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986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3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179260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7279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87707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6969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7842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705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357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2" r:id="rId14"/>
    <p:sldLayoutId id="2147483763" r:id="rId15"/>
    <p:sldLayoutId id="21474837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856" y="1510172"/>
            <a:ext cx="8303343" cy="1233027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Environmentally Responsible Product Certification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7730" y="5217488"/>
            <a:ext cx="3421469" cy="899985"/>
          </a:xfrm>
        </p:spPr>
        <p:txBody>
          <a:bodyPr/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Ch. Niharika (1925260124)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C6A34475-C8A7-23E8-FC04-7CC6505FC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43" y="141133"/>
            <a:ext cx="8849912" cy="12190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662760-8660-D0CD-BB11-31FDE77AF19D}"/>
              </a:ext>
            </a:extLst>
          </p:cNvPr>
          <p:cNvSpPr txBox="1"/>
          <p:nvPr/>
        </p:nvSpPr>
        <p:spPr>
          <a:xfrm>
            <a:off x="888999" y="5105401"/>
            <a:ext cx="2946400" cy="1012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G. Sakthivel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8D3B96-7D62-B8B6-D7EA-2A2538A23977}"/>
              </a:ext>
            </a:extLst>
          </p:cNvPr>
          <p:cNvSpPr txBox="1"/>
          <p:nvPr/>
        </p:nvSpPr>
        <p:spPr>
          <a:xfrm>
            <a:off x="1909232" y="3105834"/>
            <a:ext cx="53255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UBA2814-Professional Ethics and Legel Practices</a:t>
            </a:r>
          </a:p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74134"/>
            <a:ext cx="9144000" cy="711199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132" y="1752601"/>
            <a:ext cx="3674535" cy="3674532"/>
          </a:xfrm>
        </p:spPr>
        <p:txBody>
          <a:bodyPr>
            <a:normAutofit fontScale="47500" lnSpcReduction="20000"/>
          </a:bodyPr>
          <a:lstStyle/>
          <a:p>
            <a:pPr lvl="0">
              <a:lnSpc>
                <a:spcPct val="17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Certification identifies environmentally responsible products </a:t>
            </a:r>
          </a:p>
          <a:p>
            <a:pPr lvl="0">
              <a:lnSpc>
                <a:spcPct val="170000"/>
              </a:lnSpc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Evaluates the environmental impact of products </a:t>
            </a:r>
          </a:p>
          <a:p>
            <a:pPr lvl="0">
              <a:lnSpc>
                <a:spcPct val="170000"/>
              </a:lnSpc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sustainable production practices </a:t>
            </a:r>
          </a:p>
          <a:p>
            <a:pPr lvl="0">
              <a:lnSpc>
                <a:spcPct val="170000"/>
              </a:lnSpc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consumers make eco-friendly choices </a:t>
            </a:r>
          </a:p>
          <a:p>
            <a:pPr lvl="0">
              <a:lnSpc>
                <a:spcPct val="170000"/>
              </a:lnSpc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environmental protection.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62B97E2E-93FD-14F5-AD65-DFDC549D19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633"/>
          <a:stretch>
            <a:fillRect/>
          </a:stretch>
        </p:blipFill>
        <p:spPr>
          <a:xfrm>
            <a:off x="1" y="0"/>
            <a:ext cx="968787" cy="991401"/>
          </a:xfrm>
          <a:prstGeom prst="rect">
            <a:avLst/>
          </a:prstGeom>
        </p:spPr>
      </p:pic>
      <p:pic>
        <p:nvPicPr>
          <p:cNvPr id="7" name="Picture 6" descr="A blue and white logo&#10;&#10;AI-generated content may be incorrect.">
            <a:extLst>
              <a:ext uri="{FF2B5EF4-FFF2-40B4-BE49-F238E27FC236}">
                <a16:creationId xmlns:a16="http://schemas.microsoft.com/office/drawing/2014/main" id="{73D6FACA-337E-400A-CF75-8B3E2F253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523" y="-13758"/>
            <a:ext cx="1133477" cy="10051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ADD71B-D078-765B-8CBD-55B5BE5047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1871" y="1761067"/>
            <a:ext cx="4190997" cy="333586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08000"/>
            <a:ext cx="9144000" cy="70273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Certification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5733" y="1312863"/>
            <a:ext cx="4785221" cy="4766204"/>
          </a:xfrm>
        </p:spPr>
        <p:txBody>
          <a:bodyPr>
            <a:normAutofit fontScale="32500" lnSpcReduction="20000"/>
          </a:bodyPr>
          <a:lstStyle/>
          <a:p>
            <a:endParaRPr sz="6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r>
              <a:rPr lang="en-US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environmental pollution</a:t>
            </a:r>
          </a:p>
          <a:p>
            <a:pPr>
              <a:lnSpc>
                <a:spcPct val="170000"/>
              </a:lnSpc>
            </a:pPr>
            <a:r>
              <a:rPr lang="en-US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Encourages efficient use of natural resources</a:t>
            </a:r>
          </a:p>
          <a:p>
            <a:pPr>
              <a:lnSpc>
                <a:spcPct val="170000"/>
              </a:lnSpc>
            </a:pPr>
            <a:r>
              <a:rPr lang="en-US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Minimizes waste generation</a:t>
            </a:r>
          </a:p>
          <a:p>
            <a:pPr>
              <a:lnSpc>
                <a:spcPct val="170000"/>
              </a:lnSpc>
            </a:pPr>
            <a:r>
              <a:rPr lang="en-US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energy-efficient products</a:t>
            </a:r>
          </a:p>
          <a:p>
            <a:pPr>
              <a:lnSpc>
                <a:spcPct val="170000"/>
              </a:lnSpc>
            </a:pPr>
            <a:r>
              <a:rPr lang="en-US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Builds consumer confidence.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ECD72E3D-5E36-5B87-CC3A-21AF218FA4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633"/>
          <a:stretch>
            <a:fillRect/>
          </a:stretch>
        </p:blipFill>
        <p:spPr>
          <a:xfrm>
            <a:off x="1" y="0"/>
            <a:ext cx="968787" cy="991401"/>
          </a:xfrm>
          <a:prstGeom prst="rect">
            <a:avLst/>
          </a:prstGeom>
        </p:spPr>
      </p:pic>
      <p:pic>
        <p:nvPicPr>
          <p:cNvPr id="8" name="Picture 7" descr="A blue and white logo&#10;&#10;AI-generated content may be incorrect.">
            <a:extLst>
              <a:ext uri="{FF2B5EF4-FFF2-40B4-BE49-F238E27FC236}">
                <a16:creationId xmlns:a16="http://schemas.microsoft.com/office/drawing/2014/main" id="{14320332-C29F-E41C-2FDC-7869B2DB61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523" y="-13758"/>
            <a:ext cx="1133477" cy="1005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507119"/>
            <a:ext cx="9143999" cy="712082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134" y="1837268"/>
            <a:ext cx="3979333" cy="4038599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environmental performance of products</a:t>
            </a:r>
          </a:p>
          <a:p>
            <a:pPr>
              <a:lnSpc>
                <a:spcPct val="16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harmful environmental impacts</a:t>
            </a:r>
          </a:p>
          <a:p>
            <a:pPr>
              <a:lnSpc>
                <a:spcPct val="16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 sustainable manufacturing</a:t>
            </a:r>
          </a:p>
          <a:p>
            <a:pPr>
              <a:lnSpc>
                <a:spcPct val="16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responsible use of resources</a:t>
            </a:r>
          </a:p>
          <a:p>
            <a:pPr>
              <a:lnSpc>
                <a:spcPct val="16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green consumer choices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Picture 4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EAF54046-6CDD-F15C-87E0-DD1434505F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3633"/>
          <a:stretch>
            <a:fillRect/>
          </a:stretch>
        </p:blipFill>
        <p:spPr>
          <a:xfrm>
            <a:off x="1" y="0"/>
            <a:ext cx="968787" cy="991401"/>
          </a:xfrm>
          <a:prstGeom prst="rect">
            <a:avLst/>
          </a:prstGeom>
        </p:spPr>
      </p:pic>
      <p:pic>
        <p:nvPicPr>
          <p:cNvPr id="7" name="Picture 6" descr="A blue and white logo&#10;&#10;AI-generated content may be incorrect.">
            <a:extLst>
              <a:ext uri="{FF2B5EF4-FFF2-40B4-BE49-F238E27FC236}">
                <a16:creationId xmlns:a16="http://schemas.microsoft.com/office/drawing/2014/main" id="{4BC66E6C-CBAA-2424-A716-E500E9F3CA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523" y="-13758"/>
            <a:ext cx="1133477" cy="10051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3720C68-D065-874C-365F-8E7B1E1164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6467" y="2097617"/>
            <a:ext cx="4123266" cy="30924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30000"/>
            <a:ext cx="9143999" cy="711200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Certification Criteria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FFFFC55-2607-6403-36EE-AB21A9D342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267" y="1808066"/>
            <a:ext cx="4250266" cy="3924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efficiency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Sustainable raw materials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emissions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 reduction and recycling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and non-toxic materials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Environmentally friendly packaging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28B3F795-37F9-9D29-2DF0-6EEBAACCBE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633"/>
          <a:stretch>
            <a:fillRect/>
          </a:stretch>
        </p:blipFill>
        <p:spPr>
          <a:xfrm>
            <a:off x="1" y="0"/>
            <a:ext cx="968787" cy="991401"/>
          </a:xfrm>
          <a:prstGeom prst="rect">
            <a:avLst/>
          </a:prstGeom>
        </p:spPr>
      </p:pic>
      <p:pic>
        <p:nvPicPr>
          <p:cNvPr id="7" name="Picture 6" descr="A blue and white logo&#10;&#10;AI-generated content may be incorrect.">
            <a:extLst>
              <a:ext uri="{FF2B5EF4-FFF2-40B4-BE49-F238E27FC236}">
                <a16:creationId xmlns:a16="http://schemas.microsoft.com/office/drawing/2014/main" id="{561D33C4-C722-6156-657E-8802280E24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523" y="-13758"/>
            <a:ext cx="1133477" cy="10051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A327E9C-7153-517B-75E1-953DF8B9A8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835150"/>
            <a:ext cx="4250266" cy="31877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16467"/>
            <a:ext cx="9144000" cy="685801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Certification Process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3F36F20-D6A1-6111-104B-48AED5C9F8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533" y="1726684"/>
            <a:ext cx="5520267" cy="35863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product requirements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Collect product and manufacturing information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Conduct environmental assessment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 and verify product performance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Review certification requirements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Issue environmental certification</a:t>
            </a:r>
          </a:p>
        </p:txBody>
      </p:sp>
      <p:pic>
        <p:nvPicPr>
          <p:cNvPr id="4" name="Picture 3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A8D2AA28-21F6-1FFD-2CBE-8B63B7A5C0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633"/>
          <a:stretch>
            <a:fillRect/>
          </a:stretch>
        </p:blipFill>
        <p:spPr>
          <a:xfrm>
            <a:off x="1" y="0"/>
            <a:ext cx="968787" cy="991401"/>
          </a:xfrm>
          <a:prstGeom prst="rect">
            <a:avLst/>
          </a:prstGeom>
        </p:spPr>
      </p:pic>
      <p:pic>
        <p:nvPicPr>
          <p:cNvPr id="7" name="Picture 6" descr="A blue and white logo&#10;&#10;AI-generated content may be incorrect.">
            <a:extLst>
              <a:ext uri="{FF2B5EF4-FFF2-40B4-BE49-F238E27FC236}">
                <a16:creationId xmlns:a16="http://schemas.microsoft.com/office/drawing/2014/main" id="{6D1E5C50-8C78-44B2-2409-82C242CA2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523" y="-13758"/>
            <a:ext cx="1133477" cy="1005159"/>
          </a:xfrm>
          <a:prstGeom prst="rect">
            <a:avLst/>
          </a:prstGeom>
        </p:spPr>
      </p:pic>
      <p:pic>
        <p:nvPicPr>
          <p:cNvPr id="3" name="Picture 2" descr="A Collection of Green Certifications Recognized in Local Markets Worldwide  | ChemLinked">
            <a:extLst>
              <a:ext uri="{FF2B5EF4-FFF2-40B4-BE49-F238E27FC236}">
                <a16:creationId xmlns:a16="http://schemas.microsoft.com/office/drawing/2014/main" id="{4F1805BA-B3D7-9309-A12C-88A27166CF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712" y="2134987"/>
            <a:ext cx="3880888" cy="2588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74134"/>
            <a:ext cx="9143999" cy="730164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of Engineering Ethics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266" y="2035671"/>
            <a:ext cx="5317067" cy="3433796"/>
          </a:xfrm>
        </p:spPr>
        <p:txBody>
          <a:bodyPr>
            <a:normAutofit fontScale="85000" lnSpcReduction="20000"/>
          </a:bodyPr>
          <a:lstStyle/>
          <a:p>
            <a:endParaRPr dirty="0"/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Engineers must protect the environment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honest product evaluation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misleading environmental claims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 safety and environmental standards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long-term environmental impacts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professional responsibility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96CB0168-E7D4-2A7D-B363-635BB6114F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633"/>
          <a:stretch>
            <a:fillRect/>
          </a:stretch>
        </p:blipFill>
        <p:spPr>
          <a:xfrm>
            <a:off x="1" y="0"/>
            <a:ext cx="968787" cy="991401"/>
          </a:xfrm>
          <a:prstGeom prst="rect">
            <a:avLst/>
          </a:prstGeom>
        </p:spPr>
      </p:pic>
      <p:pic>
        <p:nvPicPr>
          <p:cNvPr id="7" name="Picture 6" descr="A blue and white logo&#10;&#10;AI-generated content may be incorrect.">
            <a:extLst>
              <a:ext uri="{FF2B5EF4-FFF2-40B4-BE49-F238E27FC236}">
                <a16:creationId xmlns:a16="http://schemas.microsoft.com/office/drawing/2014/main" id="{0E169A8C-8DB4-4297-F6CF-22B5508683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523" y="-13758"/>
            <a:ext cx="1133477" cy="1005159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74134"/>
            <a:ext cx="9144000" cy="73660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1B49409-4B21-85B2-5B9A-E21F4E22D8E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28132" y="1953750"/>
            <a:ext cx="4910667" cy="3078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environmental damage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product quality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Increases customer trust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Encourages sustainable innovation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resource conservation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company reputation</a:t>
            </a:r>
          </a:p>
        </p:txBody>
      </p:sp>
      <p:pic>
        <p:nvPicPr>
          <p:cNvPr id="5" name="Picture 4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D2231016-1112-0E9D-8B42-C5018C71C3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633"/>
          <a:stretch>
            <a:fillRect/>
          </a:stretch>
        </p:blipFill>
        <p:spPr>
          <a:xfrm>
            <a:off x="1" y="0"/>
            <a:ext cx="968787" cy="991401"/>
          </a:xfrm>
          <a:prstGeom prst="rect">
            <a:avLst/>
          </a:prstGeom>
        </p:spPr>
      </p:pic>
      <p:pic>
        <p:nvPicPr>
          <p:cNvPr id="7" name="Picture 6" descr="A blue and white logo&#10;&#10;AI-generated content may be incorrect.">
            <a:extLst>
              <a:ext uri="{FF2B5EF4-FFF2-40B4-BE49-F238E27FC236}">
                <a16:creationId xmlns:a16="http://schemas.microsoft.com/office/drawing/2014/main" id="{0D90C155-9336-536A-41D6-12C4DBDC3A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523" y="-13758"/>
            <a:ext cx="1133477" cy="1005159"/>
          </a:xfrm>
          <a:prstGeom prst="rect">
            <a:avLst/>
          </a:prstGeom>
        </p:spPr>
      </p:pic>
      <p:pic>
        <p:nvPicPr>
          <p:cNvPr id="3" name="Picture 2" descr="ECO-FRIENDLY CLEANING: A GUIDE TO ENVIRONMENTAL PRODUCT CERTIFICATIONS | IPC">
            <a:extLst>
              <a:ext uri="{FF2B5EF4-FFF2-40B4-BE49-F238E27FC236}">
                <a16:creationId xmlns:a16="http://schemas.microsoft.com/office/drawing/2014/main" id="{9A51124F-5F7E-783D-02F7-F40CF27840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6913" y="2265680"/>
            <a:ext cx="3853727" cy="216636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08529"/>
            <a:ext cx="9144000" cy="710671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1933" y="1938868"/>
            <a:ext cx="4275668" cy="3386666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certification costs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testing procedures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awareness among consumers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monitoring supply chains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Changing environmental standards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of false green claims</a:t>
            </a:r>
          </a:p>
        </p:txBody>
      </p:sp>
      <p:pic>
        <p:nvPicPr>
          <p:cNvPr id="5" name="Picture 4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A11FDEE6-C72B-F48D-A55A-E4268FC05A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633"/>
          <a:stretch>
            <a:fillRect/>
          </a:stretch>
        </p:blipFill>
        <p:spPr>
          <a:xfrm>
            <a:off x="1" y="0"/>
            <a:ext cx="968787" cy="991401"/>
          </a:xfrm>
          <a:prstGeom prst="rect">
            <a:avLst/>
          </a:prstGeom>
        </p:spPr>
      </p:pic>
      <p:pic>
        <p:nvPicPr>
          <p:cNvPr id="7" name="Picture 6" descr="A blue and white logo&#10;&#10;AI-generated content may be incorrect.">
            <a:extLst>
              <a:ext uri="{FF2B5EF4-FFF2-40B4-BE49-F238E27FC236}">
                <a16:creationId xmlns:a16="http://schemas.microsoft.com/office/drawing/2014/main" id="{73BA2494-3E6B-A022-45BE-A1A3834D7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523" y="-13758"/>
            <a:ext cx="1133477" cy="1005159"/>
          </a:xfrm>
          <a:prstGeom prst="rect">
            <a:avLst/>
          </a:prstGeom>
        </p:spPr>
      </p:pic>
      <p:pic>
        <p:nvPicPr>
          <p:cNvPr id="8" name="Picture 7" descr="12 Eco Friendly Products to Foster a Green Lifestyle">
            <a:extLst>
              <a:ext uri="{FF2B5EF4-FFF2-40B4-BE49-F238E27FC236}">
                <a16:creationId xmlns:a16="http://schemas.microsoft.com/office/drawing/2014/main" id="{328CF47D-07BC-0A27-D641-F27DF650AF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7601" y="2065973"/>
            <a:ext cx="3866983" cy="24161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094B8-09D3-93FB-3B30-394963724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4133"/>
            <a:ext cx="9144000" cy="745067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Applications</a:t>
            </a:r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11E4FC1-513A-0E8A-9761-4C77622D05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5151" y="2271526"/>
            <a:ext cx="5103582" cy="3078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Energy-efficient electrical appliances</a:t>
            </a: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Electric and hybrid vehicles</a:t>
            </a: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Recycled-material products</a:t>
            </a: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Eco-friendly construction materials</a:t>
            </a: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Sustainable packaging</a:t>
            </a: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Energy-efficient buildings</a:t>
            </a:r>
          </a:p>
        </p:txBody>
      </p:sp>
      <p:pic>
        <p:nvPicPr>
          <p:cNvPr id="4" name="Picture 3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D7A20801-1927-C4CA-A208-10C5235FA5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633"/>
          <a:stretch>
            <a:fillRect/>
          </a:stretch>
        </p:blipFill>
        <p:spPr>
          <a:xfrm>
            <a:off x="1" y="0"/>
            <a:ext cx="968787" cy="991401"/>
          </a:xfrm>
          <a:prstGeom prst="rect">
            <a:avLst/>
          </a:prstGeom>
        </p:spPr>
      </p:pic>
      <p:pic>
        <p:nvPicPr>
          <p:cNvPr id="7" name="Picture 6" descr="A blue and white logo&#10;&#10;AI-generated content may be incorrect.">
            <a:extLst>
              <a:ext uri="{FF2B5EF4-FFF2-40B4-BE49-F238E27FC236}">
                <a16:creationId xmlns:a16="http://schemas.microsoft.com/office/drawing/2014/main" id="{575B9497-2D11-5B36-0857-D263D8A5C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523" y="-13758"/>
            <a:ext cx="1133477" cy="1005159"/>
          </a:xfrm>
          <a:prstGeom prst="rect">
            <a:avLst/>
          </a:prstGeom>
        </p:spPr>
      </p:pic>
      <p:pic>
        <p:nvPicPr>
          <p:cNvPr id="3" name="Picture 2" descr="Navigating Green Product Certifications: A Guide to Sustainable Choices">
            <a:extLst>
              <a:ext uri="{FF2B5EF4-FFF2-40B4-BE49-F238E27FC236}">
                <a16:creationId xmlns:a16="http://schemas.microsoft.com/office/drawing/2014/main" id="{E1DAF3F0-F031-CA47-0B6A-284FD24805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217794" y="2519231"/>
            <a:ext cx="3762645" cy="28308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78742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74135"/>
            <a:ext cx="9144001" cy="745066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470" y="1219201"/>
            <a:ext cx="5131330" cy="409786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AI for environmental assessment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certification and tracking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Greater use of recyclable materials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low-carbon products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international standards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consumer awareness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35CCC0F1-903E-8C74-052D-3EE22B8677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633"/>
          <a:stretch>
            <a:fillRect/>
          </a:stretch>
        </p:blipFill>
        <p:spPr>
          <a:xfrm>
            <a:off x="1" y="0"/>
            <a:ext cx="968787" cy="991401"/>
          </a:xfrm>
          <a:prstGeom prst="rect">
            <a:avLst/>
          </a:prstGeom>
        </p:spPr>
      </p:pic>
      <p:pic>
        <p:nvPicPr>
          <p:cNvPr id="7" name="Picture 6" descr="A blue and white logo&#10;&#10;AI-generated content may be incorrect.">
            <a:extLst>
              <a:ext uri="{FF2B5EF4-FFF2-40B4-BE49-F238E27FC236}">
                <a16:creationId xmlns:a16="http://schemas.microsoft.com/office/drawing/2014/main" id="{B81E6FC6-AA7E-97F2-5A4A-2375EC702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523" y="-13758"/>
            <a:ext cx="1133477" cy="1005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491067"/>
            <a:ext cx="9144000" cy="719667"/>
          </a:xfrm>
        </p:spPr>
        <p:txBody>
          <a:bodyPr/>
          <a:lstStyle/>
          <a:p>
            <a:pPr algn="ctr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5534" y="1757893"/>
            <a:ext cx="5274733" cy="390630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Certification promotes environmentally responsible products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reduce environmental impact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Encourages ethical engineering practices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sustainable manufacturing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Builds trust between companies and consumers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Contributes to a greener future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390D97BD-B404-DFBD-857E-D72038EF2E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633"/>
          <a:stretch>
            <a:fillRect/>
          </a:stretch>
        </p:blipFill>
        <p:spPr>
          <a:xfrm>
            <a:off x="1" y="0"/>
            <a:ext cx="968787" cy="991401"/>
          </a:xfrm>
          <a:prstGeom prst="rect">
            <a:avLst/>
          </a:prstGeom>
        </p:spPr>
      </p:pic>
      <p:pic>
        <p:nvPicPr>
          <p:cNvPr id="7" name="Picture 6" descr="A blue and white logo&#10;&#10;AI-generated content may be incorrect.">
            <a:extLst>
              <a:ext uri="{FF2B5EF4-FFF2-40B4-BE49-F238E27FC236}">
                <a16:creationId xmlns:a16="http://schemas.microsoft.com/office/drawing/2014/main" id="{05F6C2DA-8598-3243-56BF-DBD7330EB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523" y="-13758"/>
            <a:ext cx="1133477" cy="1005159"/>
          </a:xfrm>
          <a:prstGeom prst="rect">
            <a:avLst/>
          </a:prstGeom>
        </p:spPr>
      </p:pic>
      <p:pic>
        <p:nvPicPr>
          <p:cNvPr id="4" name="Picture 3" descr="Certifications that are making the built environment sustainable">
            <a:extLst>
              <a:ext uri="{FF2B5EF4-FFF2-40B4-BE49-F238E27FC236}">
                <a16:creationId xmlns:a16="http://schemas.microsoft.com/office/drawing/2014/main" id="{159A234B-25C4-2714-C0FC-87740EBEF1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7213" y="1701801"/>
            <a:ext cx="3571253" cy="342141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98DEE-838D-9EA0-4A86-9E6E1A5A0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F4671-13EB-1203-41B9-EE76E36EA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" y="483128"/>
            <a:ext cx="9137650" cy="702205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8E709-F854-F3B4-5800-800957F6A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466" y="1757892"/>
            <a:ext cx="8398933" cy="4913875"/>
          </a:xfrm>
        </p:spPr>
        <p:txBody>
          <a:bodyPr>
            <a:normAutofit fontScale="92500" lnSpcReduction="10000"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Organization for Standardization (ISO) – Environmental Management Standards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 14001 – Environmental Management Systems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 14020 Series – Environmental Labels and Declarations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U.S. Environmental Protection Agency (EPA) – Sustainable Manufacturing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United Nations Environment Programme (UNEP) – Sustainable Consumption and Production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Ecolabelling Network (GEN) – Environmental Certification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European Commission – EU Ecolabel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World Business Council for Sustainable Development (WBCSD) – Sustainable Products and Manufacturing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37F1E203-2309-05E9-97A4-3F07D78110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633"/>
          <a:stretch>
            <a:fillRect/>
          </a:stretch>
        </p:blipFill>
        <p:spPr>
          <a:xfrm>
            <a:off x="1" y="0"/>
            <a:ext cx="968787" cy="991401"/>
          </a:xfrm>
          <a:prstGeom prst="rect">
            <a:avLst/>
          </a:prstGeom>
        </p:spPr>
      </p:pic>
      <p:pic>
        <p:nvPicPr>
          <p:cNvPr id="7" name="Picture 6" descr="A blue and white logo&#10;&#10;AI-generated content may be incorrect.">
            <a:extLst>
              <a:ext uri="{FF2B5EF4-FFF2-40B4-BE49-F238E27FC236}">
                <a16:creationId xmlns:a16="http://schemas.microsoft.com/office/drawing/2014/main" id="{5EF59D1F-72A2-4392-DC32-5A8EB5AB8D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523" y="-13758"/>
            <a:ext cx="1133477" cy="1005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248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4380" y="2857500"/>
            <a:ext cx="4675239" cy="1143000"/>
          </a:xfrm>
        </p:spPr>
        <p:txBody>
          <a:bodyPr>
            <a:noAutofit/>
          </a:bodyPr>
          <a:lstStyle/>
          <a:p>
            <a:r>
              <a:rPr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4" name="Picture 3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FC0400BA-74A3-03A1-6CC6-DD2BE6F4A2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633"/>
          <a:stretch>
            <a:fillRect/>
          </a:stretch>
        </p:blipFill>
        <p:spPr>
          <a:xfrm>
            <a:off x="1" y="0"/>
            <a:ext cx="968787" cy="991401"/>
          </a:xfrm>
          <a:prstGeom prst="rect">
            <a:avLst/>
          </a:prstGeom>
        </p:spPr>
      </p:pic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169A2CA9-C819-92CD-9841-20ECC6E84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523" y="-13758"/>
            <a:ext cx="1133477" cy="1005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1734</TotalTime>
  <Words>371</Words>
  <Application>Microsoft Office PowerPoint</Application>
  <PresentationFormat>On-screen Show (4:3)</PresentationFormat>
  <Paragraphs>97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Arial</vt:lpstr>
      <vt:lpstr>Century Gothic</vt:lpstr>
      <vt:lpstr>Times New Roman</vt:lpstr>
      <vt:lpstr>Wingdings</vt:lpstr>
      <vt:lpstr>Wingdings 3</vt:lpstr>
      <vt:lpstr>Wisp</vt:lpstr>
      <vt:lpstr>Environmentally Responsible Product Certification</vt:lpstr>
      <vt:lpstr>Introduction</vt:lpstr>
      <vt:lpstr>Need for Certification</vt:lpstr>
      <vt:lpstr>Objectives</vt:lpstr>
      <vt:lpstr>Certification Criteria</vt:lpstr>
      <vt:lpstr>Certification Process</vt:lpstr>
      <vt:lpstr>Role of Engineering Ethics</vt:lpstr>
      <vt:lpstr>Aadvantages</vt:lpstr>
      <vt:lpstr>Challenges</vt:lpstr>
      <vt:lpstr>Real-Time Applications</vt:lpstr>
      <vt:lpstr>Future Scope</vt:lpstr>
      <vt:lpstr>Conclusion</vt:lpstr>
      <vt:lpstr>References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Rakesh Kothakota</dc:creator>
  <cp:keywords/>
  <dc:description>generated using python-pptx</dc:description>
  <cp:lastModifiedBy>manedipranay.529@outlook.com</cp:lastModifiedBy>
  <cp:revision>18</cp:revision>
  <dcterms:created xsi:type="dcterms:W3CDTF">2013-01-27T09:14:16Z</dcterms:created>
  <dcterms:modified xsi:type="dcterms:W3CDTF">2026-08-12T15:48:18Z</dcterms:modified>
  <cp:category/>
</cp:coreProperties>
</file>